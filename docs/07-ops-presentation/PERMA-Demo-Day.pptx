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46120"/>
            <a:ext cx="2011680" cy="54864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F4F6FB"/>
                </a:solidFill>
                <a:latin typeface="Calibri"/>
              </a:rPr>
              <a:t>PERMA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4F1C5"/>
                </a:solidFill>
                <a:latin typeface="Calibri"/>
              </a:rPr>
              <a:t>Perpetual options powered by Solana liquidity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AA3B5"/>
                </a:solidFill>
                <a:latin typeface="Calibri"/>
              </a:rPr>
              <a:t>Fair MVP  ·  Colosseum / Superteam Buildstation  ·  Built on Orca Whirlpools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4F6FB"/>
                </a:solidFill>
                <a:latin typeface="Calibri"/>
              </a:rPr>
              <a:t>Options that don't expire — backed by real pool liquidity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6FB"/>
                </a:solidFill>
                <a:latin typeface="Calibri"/>
              </a:rPr>
              <a:t>What we're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3B5"/>
                </a:solidFill>
                <a:latin typeface="Calibri"/>
              </a:rPr>
              <a:t>The problem →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Problem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Normal crypto options expire (Friday cliff)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Solana has vaults &amp; order books — not perpetual options from concentrated LP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Panoptic does this idea on Ethereum — not on Solana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PERMA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Perpetual options on Solana (no fixed expiry)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Short = add real liquidity to an Orca price range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4F6FB"/>
                </a:solidFill>
                <a:latin typeface="Calibri"/>
              </a:rPr>
              <a:t>• Long (next) = use that inventory + pay a streaming fee over time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4F6FB"/>
                </a:solidFill>
                <a:latin typeface="Calibri"/>
              </a:rPr>
              <a:t>One line: Options without expiry, powered by Orca ranges — not a fake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6FB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3B5"/>
                </a:solidFill>
                <a:latin typeface="Calibri"/>
              </a:rPr>
              <a:t>Simple loop (Fair MVP)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651760" cy="2286000"/>
          </a:xfrm>
          <a:prstGeom prst="roundRect">
            <a:avLst/>
          </a:prstGeom>
          <a:solidFill>
            <a:srgbClr val="141B2D"/>
          </a:solidFill>
          <a:ln>
            <a:solidFill>
              <a:srgbClr val="2A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F1C5"/>
                </a:solidFill>
                <a:latin typeface="Calibri"/>
              </a:rPr>
              <a:t>1</a:t>
            </a:r>
          </a:p>
          <a:p>
            <a:r>
              <a:rPr sz="1800" b="1">
                <a:solidFill>
                  <a:srgbClr val="F4F6FB"/>
                </a:solidFill>
                <a:latin typeface="Calibri"/>
              </a:rPr>
              <a:t>Deposit</a:t>
            </a:r>
          </a:p>
          <a:p>
            <a:r>
              <a:rPr sz="1400" b="0">
                <a:solidFill>
                  <a:srgbClr val="9AA3B5"/>
                </a:solidFill>
                <a:latin typeface="Calibri"/>
              </a:rPr>
              <a:t>Put WSOL / USDC
into collateral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651760" cy="2286000"/>
          </a:xfrm>
          <a:prstGeom prst="roundRect">
            <a:avLst/>
          </a:prstGeom>
          <a:solidFill>
            <a:srgbClr val="141B2D"/>
          </a:solidFill>
          <a:ln>
            <a:solidFill>
              <a:srgbClr val="2A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916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F1C5"/>
                </a:solidFill>
                <a:latin typeface="Calibri"/>
              </a:rPr>
              <a:t>2</a:t>
            </a:r>
          </a:p>
          <a:p>
            <a:r>
              <a:rPr sz="1800" b="1">
                <a:solidFill>
                  <a:srgbClr val="F4F6FB"/>
                </a:solidFill>
                <a:latin typeface="Calibri"/>
              </a:rPr>
              <a:t>Open short</a:t>
            </a:r>
          </a:p>
          <a:p>
            <a:r>
              <a:rPr sz="1400" b="0">
                <a:solidFill>
                  <a:srgbClr val="9AA3B5"/>
                </a:solidFill>
                <a:latin typeface="Calibri"/>
              </a:rPr>
              <a:t>Lock funds +
add liquidity on Orca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651760" cy="2286000"/>
          </a:xfrm>
          <a:prstGeom prst="roundRect">
            <a:avLst/>
          </a:prstGeom>
          <a:solidFill>
            <a:srgbClr val="141B2D"/>
          </a:solidFill>
          <a:ln>
            <a:solidFill>
              <a:srgbClr val="2A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F1C5"/>
                </a:solidFill>
                <a:latin typeface="Calibri"/>
              </a:rPr>
              <a:t>3</a:t>
            </a:r>
          </a:p>
          <a:p>
            <a:r>
              <a:rPr sz="1800" b="1">
                <a:solidFill>
                  <a:srgbClr val="F4F6FB"/>
                </a:solidFill>
                <a:latin typeface="Calibri"/>
              </a:rPr>
              <a:t>Hold</a:t>
            </a:r>
          </a:p>
          <a:p>
            <a:r>
              <a:rPr sz="1400" b="0">
                <a:solidFill>
                  <a:srgbClr val="9AA3B5"/>
                </a:solidFill>
                <a:latin typeface="Calibri"/>
              </a:rPr>
              <a:t>Price can move;
position stays 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554480"/>
            <a:ext cx="2651760" cy="2286000"/>
          </a:xfrm>
          <a:prstGeom prst="roundRect">
            <a:avLst/>
          </a:prstGeom>
          <a:solidFill>
            <a:srgbClr val="141B2D"/>
          </a:solidFill>
          <a:ln>
            <a:solidFill>
              <a:srgbClr val="2A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9164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F1C5"/>
                </a:solidFill>
                <a:latin typeface="Calibri"/>
              </a:rPr>
              <a:t>4</a:t>
            </a:r>
          </a:p>
          <a:p>
            <a:r>
              <a:rPr sz="1800" b="1">
                <a:solidFill>
                  <a:srgbClr val="F4F6FB"/>
                </a:solidFill>
                <a:latin typeface="Calibri"/>
              </a:rPr>
              <a:t>Close short</a:t>
            </a:r>
          </a:p>
          <a:p>
            <a:r>
              <a:rPr sz="1400" b="0">
                <a:solidFill>
                  <a:srgbClr val="9AA3B5"/>
                </a:solidFill>
                <a:latin typeface="Calibri"/>
              </a:rPr>
              <a:t>Remove liquidity
+ unlock collateral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F1C5"/>
                </a:solidFill>
                <a:latin typeface="Calibri"/>
              </a:rPr>
              <a:t>Already real under the hood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6FB"/>
                </a:solidFill>
                <a:latin typeface="Calibri"/>
              </a:rPr>
              <a:t>• Solana program CPIs into Orca (real accounts &amp; ticks)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6FB"/>
                </a:solidFill>
                <a:latin typeface="Calibri"/>
              </a:rPr>
              <a:t>• Admin allowlisted single SOL/USDC Whirlpool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4F6FB"/>
                </a:solidFill>
                <a:latin typeface="Calibri"/>
              </a:rPr>
              <a:t>• Collateral vaults + product mint / burn for shorts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9AA3B5"/>
                </a:solidFill>
                <a:latin typeface="Calibri"/>
              </a:rPr>
              <a:t>Next: long mint → streaming premium → solvency → thin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6FB"/>
                </a:solidFill>
                <a:latin typeface="Calibri"/>
              </a:rPr>
              <a:t>Where we are right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3B5"/>
                </a:solidFill>
                <a:latin typeface="Calibri"/>
              </a:rPr>
              <a:t>Fair MVP progress — honest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4F1C5"/>
                </a:solidFill>
                <a:latin typeface="Calibri"/>
              </a:rPr>
              <a:t>Shipped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✓ Specs &amp; audits (READY)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✓ Orca adapter — real liquidity CPI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✓ Market factory — allowlist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✓ Collateral deposit / withdraw / lock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✓ Short open / close (product path)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9945FF"/>
                </a:solidFill>
                <a:latin typeface="Calibri"/>
              </a:rPr>
              <a:t>Next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→ Long mint (inventory gate)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→ Streaming premium settle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→ Full solvency checks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→ Thin Trade / Portfolio UI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→ Release gate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4F6FB"/>
                </a:solidFill>
                <a:latin typeface="Calibri"/>
              </a:rPr>
              <a:t>Today's demo:  create market → deposit → open short on Orca → close → explorer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9AA3B5"/>
                </a:solidFill>
                <a:latin typeface="Calibri"/>
              </a:rPr>
              <a:t>Honest status: prototype · one pool · short path live · longs/premium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6FB"/>
                </a:solidFill>
                <a:latin typeface="Calibri"/>
              </a:rPr>
              <a:t>Market &amp;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3B5"/>
                </a:solidFill>
                <a:latin typeface="Calibri"/>
              </a:rPr>
              <a:t>Demand + honest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Demand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• Traders want ongoing hedges — not only weekly expiry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• LPs already sit in Orca ranges — PERMA turns that into an options primitive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Competition on Solana (honest)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• Dual / Chest / DOVs → weekly vaults — different machine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• Manifest / Dual CLOB → order-book options — not CLMM-native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• Panoptic → same idea on Ethereum only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F4F6FB"/>
                </a:solidFill>
                <a:latin typeface="Calibri"/>
              </a:rPr>
              <a:t>Our gap: no live Solana protocol yet that turns Orca ranges into perpetual long/short options with streaming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F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4F6FB"/>
                </a:solidFill>
                <a:latin typeface="Calibri"/>
              </a:rPr>
              <a:t>Finish line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AA3B5"/>
                </a:solidFill>
                <a:latin typeface="Calibri"/>
              </a:rPr>
              <a:t>Fair MVP → then north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Fair MVP finish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1) Long mint   2) Premium settle   3) Solvency   4) Thin UI   5) Release gate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9945FF"/>
                </a:solidFill>
                <a:latin typeface="Calibri"/>
              </a:rPr>
              <a:t>After the Fair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4F6FB"/>
                </a:solidFill>
                <a:latin typeface="Calibri"/>
              </a:rPr>
              <a:t>Multi-leg · more pools · stronger risk — still independent of Panoptic code (BUSL)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FB4A2"/>
                </a:solidFill>
                <a:latin typeface="Calibri"/>
              </a:rPr>
              <a:t>Say out loud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4F6FB"/>
                </a:solidFill>
                <a:latin typeface="Calibri"/>
              </a:rPr>
              <a:t>Prototype. Not audited. Single pool. Do not put real money at risk.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4F1C5"/>
                </a:solidFill>
                <a:latin typeface="Calibri"/>
              </a:rPr>
              <a:t>Closer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4F6FB"/>
                </a:solidFill>
                <a:latin typeface="Calibri"/>
              </a:rPr>
              <a:t>We're not wrapping options on a spreadsheet — when we short, Orca's pool actually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AA3B5"/>
                </a:solidFill>
                <a:latin typeface="Calibri"/>
              </a:rPr>
              <a:t>Prototype · Not audited · Single pool · Not production risk 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